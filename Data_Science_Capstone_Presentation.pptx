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55448"/>
          </a:xfrm>
          <a:prstGeom prst="rect">
            <a:avLst/>
          </a:prstGeom>
          <a:solidFill>
            <a:srgbClr val="227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0C1B32"/>
                </a:solidFill>
              </a:defRPr>
            </a:pPr>
            <a:r>
              <a:t>Falcon 9 first-stage landing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90472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0">
                <a:solidFill>
                  <a:srgbClr val="0C1B32"/>
                </a:solidFill>
              </a:defRPr>
            </a:pPr>
            <a:r>
              <a:t>Data Science Capstone Project</a:t>
            </a:r>
          </a:p>
          <a:p>
            <a:pPr>
              <a:spcAft>
                <a:spcPts val="1300"/>
              </a:spcAft>
              <a:defRPr sz="1900" b="0">
                <a:solidFill>
                  <a:srgbClr val="0C1B32"/>
                </a:solidFill>
              </a:defRPr>
            </a:pPr>
            <a:r>
              <a:t>Study period: 2010–2020 | 90 public educational launch records</a:t>
            </a:r>
          </a:p>
          <a:p>
            <a:pPr>
              <a:spcAft>
                <a:spcPts val="1300"/>
              </a:spcAft>
              <a:defRPr sz="1900" b="0">
                <a:solidFill>
                  <a:srgbClr val="0C1B32"/>
                </a:solidFill>
              </a:defRPr>
            </a:pPr>
            <a:r>
              <a:t>Report-to-slides conversion — results are descriptive unless marked otherwise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83096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4B5C6E"/>
                </a:solidFill>
              </a:defRPr>
            </a:pPr>
            <a:r>
              <a:t>Applied Data Science Capstone | descriptive results from public educational data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55448"/>
          </a:xfrm>
          <a:prstGeom prst="rect">
            <a:avLst/>
          </a:prstGeom>
          <a:solidFill>
            <a:srgbClr val="227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0C1B32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90472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0">
                <a:solidFill>
                  <a:srgbClr val="0C1B32"/>
                </a:solidFill>
              </a:defRPr>
            </a:pPr>
            <a:r>
              <a:t>• 60 of 90 launches labeled landing success (66.7%).</a:t>
            </a:r>
          </a:p>
          <a:p>
            <a:pPr>
              <a:spcAft>
                <a:spcPts val="1300"/>
              </a:spcAft>
              <a:defRPr sz="1900" b="0">
                <a:solidFill>
                  <a:srgbClr val="0C1B32"/>
                </a:solidFill>
              </a:defRPr>
            </a:pPr>
            <a:r>
              <a:t>• Success varies by launch site: 60.0%–77.3%.</a:t>
            </a:r>
          </a:p>
          <a:p>
            <a:pPr>
              <a:spcAft>
                <a:spcPts val="1300"/>
              </a:spcAft>
              <a:defRPr sz="1900" b="0">
                <a:solidFill>
                  <a:srgbClr val="0C1B32"/>
                </a:solidFill>
              </a:defRPr>
            </a:pPr>
            <a:r>
              <a:t>• Reused boosters: 78.4% success versus 58.5% not reused.</a:t>
            </a:r>
          </a:p>
          <a:p>
            <a:pPr>
              <a:spcAft>
                <a:spcPts val="1300"/>
              </a:spcAft>
              <a:defRPr sz="1900" b="0">
                <a:solidFill>
                  <a:srgbClr val="0C1B32"/>
                </a:solidFill>
              </a:defRPr>
            </a:pPr>
            <a:r>
              <a:t>• Grid fins: 82.9% success versus 10.0% without.</a:t>
            </a:r>
          </a:p>
          <a:p>
            <a:pPr>
              <a:spcAft>
                <a:spcPts val="1300"/>
              </a:spcAft>
              <a:defRPr sz="1900" b="0">
                <a:solidFill>
                  <a:srgbClr val="0C1B32"/>
                </a:solidFill>
              </a:defRPr>
            </a:pPr>
            <a:r>
              <a:t>• These historical associations do not establish causality.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83096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4B5C6E"/>
                </a:solidFill>
              </a:defRPr>
            </a:pPr>
            <a:r>
              <a:t>Applied Data Science Capstone | descriptive results from public educational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55448"/>
          </a:xfrm>
          <a:prstGeom prst="rect">
            <a:avLst/>
          </a:prstGeom>
          <a:solidFill>
            <a:srgbClr val="227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0C1B32"/>
                </a:solidFill>
              </a:defRPr>
            </a:pPr>
            <a:r>
              <a:t>Introduction and research question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90472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0">
                <a:solidFill>
                  <a:srgbClr val="0C1B32"/>
                </a:solidFill>
              </a:defRPr>
            </a:pPr>
            <a:r>
              <a:t>Question: How do launch site, mission orbit, vehicle design and flight history relate to landing success?</a:t>
            </a:r>
          </a:p>
          <a:p>
            <a:pPr>
              <a:spcAft>
                <a:spcPts val="1300"/>
              </a:spcAft>
              <a:defRPr sz="1900" b="0">
                <a:solidFill>
                  <a:srgbClr val="0C1B32"/>
                </a:solidFill>
              </a:defRPr>
            </a:pPr>
            <a:r>
              <a:t>Target variable: Class ∈ {0,1}, with 1 denoting success in the supplied dataset.</a:t>
            </a:r>
          </a:p>
          <a:p>
            <a:pPr>
              <a:spcAft>
                <a:spcPts val="1300"/>
              </a:spcAft>
              <a:defRPr sz="1900" b="0">
                <a:solidFill>
                  <a:srgbClr val="0C1B32"/>
                </a:solidFill>
              </a:defRPr>
            </a:pPr>
            <a:r>
              <a:t>Goal: collect, clean, query, visualize and model Falcon 9 launch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83096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4B5C6E"/>
                </a:solidFill>
              </a:defRPr>
            </a:pPr>
            <a:r>
              <a:t>Applied Data Science Capstone | descriptive results from public educational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55448"/>
          </a:xfrm>
          <a:prstGeom prst="rect">
            <a:avLst/>
          </a:prstGeom>
          <a:solidFill>
            <a:srgbClr val="227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0C1B32"/>
                </a:solidFill>
              </a:defRPr>
            </a:pPr>
            <a:r>
              <a:t>Data collection: API and scraping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90472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0">
                <a:solidFill>
                  <a:srgbClr val="0C1B32"/>
                </a:solidFill>
              </a:defRPr>
            </a:pPr>
            <a:r>
              <a:t>Planned API workflow:</a:t>
            </a:r>
          </a:p>
          <a:p>
            <a:pPr>
              <a:spcAft>
                <a:spcPts val="1300"/>
              </a:spcAft>
              <a:defRPr sz="1900" b="0">
                <a:solidFill>
                  <a:srgbClr val="0C1B32"/>
                </a:solidFill>
              </a:defRPr>
            </a:pPr>
            <a:r>
              <a:t>• Query SpaceX launches and enrich rocket, landing-pad and launchpad identifiers.</a:t>
            </a:r>
          </a:p>
          <a:p>
            <a:pPr>
              <a:spcAft>
                <a:spcPts val="1300"/>
              </a:spcAft>
              <a:defRPr sz="1900" b="0">
                <a:solidFill>
                  <a:srgbClr val="0C1B32"/>
                </a:solidFill>
              </a:defRPr>
            </a:pPr>
            <a:r>
              <a:t>• Normalize JSON; record retrieval date and preserve raw source.</a:t>
            </a:r>
          </a:p>
          <a:p>
            <a:pPr>
              <a:spcAft>
                <a:spcPts val="1300"/>
              </a:spcAft>
              <a:defRPr sz="1900" b="0">
                <a:solidFill>
                  <a:srgbClr val="0C1B32"/>
                </a:solidFill>
              </a:defRPr>
            </a:pPr>
            <a:r>
              <a:t>Planned web scraping:</a:t>
            </a:r>
          </a:p>
          <a:p>
            <a:pPr>
              <a:spcAft>
                <a:spcPts val="1300"/>
              </a:spcAft>
              <a:defRPr sz="1900" b="0">
                <a:solidFill>
                  <a:srgbClr val="0C1B32"/>
                </a:solidFill>
              </a:defRPr>
            </a:pPr>
            <a:r>
              <a:t>• Parse public launch tables; standardize dates, units and outcome labels.</a:t>
            </a:r>
          </a:p>
          <a:p>
            <a:pPr>
              <a:spcAft>
                <a:spcPts val="1300"/>
              </a:spcAft>
              <a:defRPr sz="1900" b="0">
                <a:solidFill>
                  <a:srgbClr val="0C1B32"/>
                </a:solidFill>
              </a:defRPr>
            </a:pPr>
            <a:r>
              <a:t>• Reconcile with API data using launch identifiers.</a:t>
            </a:r>
          </a:p>
          <a:p>
            <a:pPr>
              <a:spcAft>
                <a:spcPts val="1300"/>
              </a:spcAft>
              <a:defRPr sz="1900" b="0">
                <a:solidFill>
                  <a:srgbClr val="0C1B32"/>
                </a:solidFill>
              </a:defRPr>
            </a:pPr>
            <a:r>
              <a:t>Status: execution of these collection steps has not been verified.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83096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4B5C6E"/>
                </a:solidFill>
              </a:defRPr>
            </a:pPr>
            <a:r>
              <a:t>Applied Data Science Capstone | descriptive results from public educational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55448"/>
          </a:xfrm>
          <a:prstGeom prst="rect">
            <a:avLst/>
          </a:prstGeom>
          <a:solidFill>
            <a:srgbClr val="227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0C1B32"/>
                </a:solidFill>
              </a:defRPr>
            </a:pPr>
            <a:r>
              <a:t>Data wrangling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90472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0">
                <a:solidFill>
                  <a:srgbClr val="0C1B32"/>
                </a:solidFill>
              </a:defRPr>
            </a:pPr>
            <a:r>
              <a:t>• Parse dates and numeric payload mass; standardize booleans and categories.</a:t>
            </a:r>
          </a:p>
          <a:p>
            <a:pPr>
              <a:spcAft>
                <a:spcPts val="1300"/>
              </a:spcAft>
              <a:defRPr sz="1900" b="0">
                <a:solidFill>
                  <a:srgbClr val="0C1B32"/>
                </a:solidFill>
              </a:defRPr>
            </a:pPr>
            <a:r>
              <a:t>• Validate target labels; check duplicate FlightNumber values.</a:t>
            </a:r>
          </a:p>
          <a:p>
            <a:pPr>
              <a:spcAft>
                <a:spcPts val="1300"/>
              </a:spcAft>
              <a:defRPr sz="1900" b="0">
                <a:solidFill>
                  <a:srgbClr val="0C1B32"/>
                </a:solidFill>
              </a:defRPr>
            </a:pPr>
            <a:r>
              <a:t>• 26 of 90 records have blank LandingPad entries.</a:t>
            </a:r>
          </a:p>
          <a:p>
            <a:pPr>
              <a:spcAft>
                <a:spcPts val="1300"/>
              </a:spcAft>
              <a:defRPr sz="1900" b="0">
                <a:solidFill>
                  <a:srgbClr val="0C1B32"/>
                </a:solidFill>
              </a:defRPr>
            </a:pPr>
            <a:r>
              <a:t>• Class balance: 60 positive versus 30 negative.</a:t>
            </a:r>
          </a:p>
          <a:p>
            <a:pPr>
              <a:spcAft>
                <a:spcPts val="1300"/>
              </a:spcAft>
              <a:defRPr sz="1900" b="0">
                <a:solidFill>
                  <a:srgbClr val="0C1B32"/>
                </a:solidFill>
              </a:defRPr>
            </a:pPr>
            <a:r>
              <a:t>• Fit preprocessing on training data only to reduce data leakage.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83096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4B5C6E"/>
                </a:solidFill>
              </a:defRPr>
            </a:pPr>
            <a:r>
              <a:t>Applied Data Science Capstone | descriptive results from public educational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55448"/>
          </a:xfrm>
          <a:prstGeom prst="rect">
            <a:avLst/>
          </a:prstGeom>
          <a:solidFill>
            <a:srgbClr val="227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0C1B32"/>
                </a:solidFill>
              </a:defRPr>
            </a:pPr>
            <a:r>
              <a:t>EDA: landing outcomes by site</a:t>
            </a:r>
          </a:p>
        </p:txBody>
      </p:sp>
      <p:pic>
        <p:nvPicPr>
          <p:cNvPr id="4" name="Picture 3" descr="capstone_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1389888"/>
            <a:ext cx="8229600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83096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4B5C6E"/>
                </a:solidFill>
              </a:defRPr>
            </a:pPr>
            <a:r>
              <a:t>Applied Data Science Capstone | descriptive results from public educational data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55448"/>
          </a:xfrm>
          <a:prstGeom prst="rect">
            <a:avLst/>
          </a:prstGeom>
          <a:solidFill>
            <a:srgbClr val="227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0C1B32"/>
                </a:solidFill>
              </a:defRPr>
            </a:pPr>
            <a:r>
              <a:t>EDA: success rate by year</a:t>
            </a:r>
          </a:p>
        </p:txBody>
      </p:sp>
      <p:pic>
        <p:nvPicPr>
          <p:cNvPr id="4" name="Picture 3" descr="capstone_ye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1389888"/>
            <a:ext cx="8229600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83096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4B5C6E"/>
                </a:solidFill>
              </a:defRPr>
            </a:pPr>
            <a:r>
              <a:t>Applied Data Science Capstone | descriptive results from public educational data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55448"/>
          </a:xfrm>
          <a:prstGeom prst="rect">
            <a:avLst/>
          </a:prstGeom>
          <a:solidFill>
            <a:srgbClr val="227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0C1B32"/>
                </a:solidFill>
              </a:defRPr>
            </a:pPr>
            <a:r>
              <a:t>EDA: landing outcomes by orbit</a:t>
            </a:r>
          </a:p>
        </p:txBody>
      </p:sp>
      <p:pic>
        <p:nvPicPr>
          <p:cNvPr id="4" name="Picture 3" descr="capstone_orb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5960" y="1389888"/>
            <a:ext cx="8229600" cy="452628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40080" y="6483096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4B5C6E"/>
                </a:solidFill>
              </a:defRPr>
            </a:pPr>
            <a:r>
              <a:t>Applied Data Science Capstone | descriptive results from public educational data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55448"/>
          </a:xfrm>
          <a:prstGeom prst="rect">
            <a:avLst/>
          </a:prstGeom>
          <a:solidFill>
            <a:srgbClr val="227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0C1B32"/>
                </a:solidFill>
              </a:defRPr>
            </a:pPr>
            <a:r>
              <a:t>SQL exploration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90472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0">
                <a:solidFill>
                  <a:srgbClr val="0C1B32"/>
                </a:solidFill>
              </a:defRPr>
            </a:pPr>
            <a:r>
              <a:t>Example query:</a:t>
            </a:r>
          </a:p>
          <a:p>
            <a:pPr>
              <a:spcAft>
                <a:spcPts val="1300"/>
              </a:spcAft>
              <a:defRPr sz="1900" b="0">
                <a:solidFill>
                  <a:srgbClr val="0C1B32"/>
                </a:solidFill>
              </a:defRPr>
            </a:pPr>
            <a:r>
              <a:t>SELECT LaunchSite, COUNT(*) AS launches,</a:t>
            </a:r>
          </a:p>
          <a:p>
            <a:pPr>
              <a:spcAft>
                <a:spcPts val="1300"/>
              </a:spcAft>
              <a:defRPr sz="1900" b="0">
                <a:solidFill>
                  <a:srgbClr val="0C1B32"/>
                </a:solidFill>
              </a:defRPr>
            </a:pPr>
            <a:r>
              <a:t>SUM(Class) AS successes,</a:t>
            </a:r>
          </a:p>
          <a:p>
            <a:pPr>
              <a:spcAft>
                <a:spcPts val="1300"/>
              </a:spcAft>
              <a:defRPr sz="1900" b="0">
                <a:solidFill>
                  <a:srgbClr val="0C1B32"/>
                </a:solidFill>
              </a:defRPr>
            </a:pPr>
            <a:r>
              <a:t>ROUND(100.0 * AVG(Class), 1) AS success_pct</a:t>
            </a:r>
          </a:p>
          <a:p>
            <a:pPr>
              <a:spcAft>
                <a:spcPts val="1300"/>
              </a:spcAft>
              <a:defRPr sz="1900" b="0">
                <a:solidFill>
                  <a:srgbClr val="0C1B32"/>
                </a:solidFill>
              </a:defRPr>
            </a:pPr>
            <a:r>
              <a:t>FROM launches GROUP BY LaunchSite;</a:t>
            </a:r>
          </a:p>
          <a:p>
            <a:pPr>
              <a:spcAft>
                <a:spcPts val="1300"/>
              </a:spcAft>
              <a:defRPr sz="1900" b="0">
                <a:solidFill>
                  <a:srgbClr val="0C1B32"/>
                </a:solidFill>
              </a:defRPr>
            </a:pPr>
          </a:p>
          <a:p>
            <a:pPr>
              <a:spcAft>
                <a:spcPts val="1300"/>
              </a:spcAft>
              <a:defRPr sz="1900" b="0">
                <a:solidFill>
                  <a:srgbClr val="0C1B32"/>
                </a:solidFill>
              </a:defRPr>
            </a:pPr>
            <a:r>
              <a:t>Observed site success: CCSFS SLC 40 60.0% (33/55); VAFB SLC 4E 76.9% (10/13); KSC LC 39A 77.3% (17/22).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83096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4B5C6E"/>
                </a:solidFill>
              </a:defRPr>
            </a:pPr>
            <a:r>
              <a:t>Applied Data Science Capstone | descriptive results from public educational 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55448"/>
          </a:xfrm>
          <a:prstGeom prst="rect">
            <a:avLst/>
          </a:prstGeom>
          <a:solidFill>
            <a:srgbClr val="227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0C1B32"/>
                </a:solidFill>
              </a:defRPr>
            </a:pPr>
            <a:r>
              <a:t>Folium geographic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90472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0">
                <a:solidFill>
                  <a:srgbClr val="0C1B32"/>
                </a:solidFill>
              </a:defRPr>
            </a:pPr>
            <a:r>
              <a:t>• Create markers for launch sites and popups with counts and success rates.</a:t>
            </a:r>
          </a:p>
          <a:p>
            <a:pPr>
              <a:spcAft>
                <a:spcPts val="1300"/>
              </a:spcAft>
              <a:defRPr sz="1900" b="0">
                <a:solidFill>
                  <a:srgbClr val="0C1B32"/>
                </a:solidFill>
              </a:defRPr>
            </a:pPr>
            <a:r>
              <a:t>• Add marker clustering, outcome filters and distance overlays.</a:t>
            </a:r>
          </a:p>
          <a:p>
            <a:pPr>
              <a:spcAft>
                <a:spcPts val="1300"/>
              </a:spcAft>
              <a:defRPr sz="1900" b="0">
                <a:solidFill>
                  <a:srgbClr val="0C1B32"/>
                </a:solidFill>
              </a:defRPr>
            </a:pPr>
            <a:r>
              <a:t>• Export as launch_site_map.html.</a:t>
            </a:r>
          </a:p>
          <a:p>
            <a:pPr>
              <a:spcAft>
                <a:spcPts val="1300"/>
              </a:spcAft>
              <a:defRPr sz="1900" b="0">
                <a:solidFill>
                  <a:srgbClr val="0C1B32"/>
                </a:solidFill>
              </a:defRPr>
            </a:pPr>
            <a:r>
              <a:t>• Coordinates in dataset include CCSFS SLC 40 and VAFB SLC 4E.</a:t>
            </a:r>
          </a:p>
          <a:p>
            <a:pPr>
              <a:spcAft>
                <a:spcPts val="1300"/>
              </a:spcAft>
              <a:defRPr sz="1900" b="0">
                <a:solidFill>
                  <a:srgbClr val="0C1B32"/>
                </a:solidFill>
              </a:defRPr>
            </a:pPr>
            <a:r>
              <a:t>Status: interactive map and proximity analyses have not been executed or verified.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83096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4B5C6E"/>
                </a:solidFill>
              </a:defRPr>
            </a:pPr>
            <a:r>
              <a:t>Applied Data Science Capstone | descriptive results from public educational data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55448"/>
          </a:xfrm>
          <a:prstGeom prst="rect">
            <a:avLst/>
          </a:prstGeom>
          <a:solidFill>
            <a:srgbClr val="227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0C1B32"/>
                </a:solidFill>
              </a:defRPr>
            </a:pPr>
            <a:r>
              <a:t>Plotly Dash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90472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0">
                <a:solidFill>
                  <a:srgbClr val="0C1B32"/>
                </a:solidFill>
              </a:defRPr>
            </a:pPr>
            <a:r>
              <a:t>Proposed controls and visuals:</a:t>
            </a:r>
          </a:p>
          <a:p>
            <a:pPr>
              <a:spcAft>
                <a:spcPts val="1300"/>
              </a:spcAft>
              <a:defRPr sz="1900" b="0">
                <a:solidFill>
                  <a:srgbClr val="0C1B32"/>
                </a:solidFill>
              </a:defRPr>
            </a:pPr>
            <a:r>
              <a:t>• Launch-site dropdown: All Sites or individual launch site.</a:t>
            </a:r>
          </a:p>
          <a:p>
            <a:pPr>
              <a:spcAft>
                <a:spcPts val="1300"/>
              </a:spcAft>
              <a:defRPr sz="1900" b="0">
                <a:solidFill>
                  <a:srgbClr val="0C1B32"/>
                </a:solidFill>
              </a:defRPr>
            </a:pPr>
            <a:r>
              <a:t>• Landing success/failure pie chart.</a:t>
            </a:r>
          </a:p>
          <a:p>
            <a:pPr>
              <a:spcAft>
                <a:spcPts val="1300"/>
              </a:spcAft>
              <a:defRPr sz="1900" b="0">
                <a:solidFill>
                  <a:srgbClr val="0C1B32"/>
                </a:solidFill>
              </a:defRPr>
            </a:pPr>
            <a:r>
              <a:t>• Payload mass range slider.</a:t>
            </a:r>
          </a:p>
          <a:p>
            <a:pPr>
              <a:spcAft>
                <a:spcPts val="1300"/>
              </a:spcAft>
              <a:defRPr sz="1900" b="0">
                <a:solidFill>
                  <a:srgbClr val="0C1B32"/>
                </a:solidFill>
              </a:defRPr>
            </a:pPr>
            <a:r>
              <a:t>• Scatter plot: payload mass versus launch outcome.</a:t>
            </a:r>
          </a:p>
          <a:p>
            <a:pPr>
              <a:spcAft>
                <a:spcPts val="1300"/>
              </a:spcAft>
              <a:defRPr sz="1900" b="0">
                <a:solidFill>
                  <a:srgbClr val="0C1B32"/>
                </a:solidFill>
              </a:defRPr>
            </a:pPr>
            <a:r>
              <a:t>• Linked callbacks with consistent filters.</a:t>
            </a:r>
          </a:p>
          <a:p>
            <a:pPr>
              <a:spcAft>
                <a:spcPts val="1300"/>
              </a:spcAft>
              <a:defRPr sz="1900" b="0">
                <a:solidFill>
                  <a:srgbClr val="0C1B32"/>
                </a:solidFill>
              </a:defRPr>
            </a:pPr>
            <a:r>
              <a:t>Status: application execution and dashboard screenshots pending.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83096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4B5C6E"/>
                </a:solidFill>
              </a:defRPr>
            </a:pPr>
            <a:r>
              <a:t>Applied Data Science Capstone | descriptive results from public educational data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55448"/>
          </a:xfrm>
          <a:prstGeom prst="rect">
            <a:avLst/>
          </a:prstGeom>
          <a:solidFill>
            <a:srgbClr val="227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0C1B32"/>
                </a:solidFill>
              </a:defRPr>
            </a:pPr>
            <a:r>
              <a:t>Predictive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90472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0">
                <a:solidFill>
                  <a:srgbClr val="0C1B32"/>
                </a:solidFill>
              </a:defRPr>
            </a:pPr>
            <a:r>
              <a:t>Proposed classifiers: logistic regression, support vector machine, decision tree and k-nearest neighbors.</a:t>
            </a:r>
          </a:p>
          <a:p>
            <a:pPr>
              <a:spcAft>
                <a:spcPts val="1300"/>
              </a:spcAft>
              <a:defRPr sz="1900" b="0">
                <a:solidFill>
                  <a:srgbClr val="0C1B32"/>
                </a:solidFill>
              </a:defRPr>
            </a:pPr>
            <a:r>
              <a:t>Tune with GridSearchCV; evaluate held-out accuracy, precision, recall, F1 and confusion matrix.</a:t>
            </a:r>
          </a:p>
          <a:p>
            <a:pPr>
              <a:spcAft>
                <a:spcPts val="1300"/>
              </a:spcAft>
              <a:defRPr sz="1900" b="0">
                <a:solidFill>
                  <a:srgbClr val="0C1B32"/>
                </a:solidFill>
              </a:defRPr>
            </a:pPr>
            <a:r>
              <a:t>Historical majority-class rate: 66.7% (not a test-set model score).</a:t>
            </a:r>
          </a:p>
          <a:p>
            <a:pPr>
              <a:spcAft>
                <a:spcPts val="1300"/>
              </a:spcAft>
              <a:defRPr sz="1900" b="0">
                <a:solidFill>
                  <a:srgbClr val="0C1B32"/>
                </a:solidFill>
              </a:defRPr>
            </a:pPr>
            <a:r>
              <a:t>Model execution and comparative metrics remain unverified.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83096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4B5C6E"/>
                </a:solidFill>
              </a:defRPr>
            </a:pPr>
            <a:r>
              <a:t>Applied Data Science Capstone | descriptive results from public educational data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55448"/>
          </a:xfrm>
          <a:prstGeom prst="rect">
            <a:avLst/>
          </a:prstGeom>
          <a:solidFill>
            <a:srgbClr val="227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0C1B32"/>
                </a:solidFill>
              </a:defRPr>
            </a:pPr>
            <a:r>
              <a:t>Conclusions and limitations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90472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0">
                <a:solidFill>
                  <a:srgbClr val="0C1B32"/>
                </a:solidFill>
              </a:defRPr>
            </a:pPr>
            <a:r>
              <a:t>• Historical landing-success rate: 66.7% across 90 sampled records.</a:t>
            </a:r>
          </a:p>
          <a:p>
            <a:pPr>
              <a:spcAft>
                <a:spcPts val="1300"/>
              </a:spcAft>
              <a:defRPr sz="1900" b="0">
                <a:solidFill>
                  <a:srgbClr val="0C1B32"/>
                </a:solidFill>
              </a:defRPr>
            </a:pPr>
            <a:r>
              <a:t>• Launch-site, booster reuse, and grid-fin status correlate with outcome.</a:t>
            </a:r>
          </a:p>
          <a:p>
            <a:pPr>
              <a:spcAft>
                <a:spcPts val="1300"/>
              </a:spcAft>
              <a:defRPr sz="1900" b="0">
                <a:solidFill>
                  <a:srgbClr val="0C1B32"/>
                </a:solidFill>
              </a:defRPr>
            </a:pPr>
            <a:r>
              <a:t>• Observational relationships may reflect year, configuration and mission mix.</a:t>
            </a:r>
          </a:p>
          <a:p>
            <a:pPr>
              <a:spcAft>
                <a:spcPts val="1300"/>
              </a:spcAft>
              <a:defRPr sz="1900" b="0">
                <a:solidFill>
                  <a:srgbClr val="0C1B32"/>
                </a:solidFill>
              </a:defRPr>
            </a:pPr>
            <a:r>
              <a:t>• Dataset ends November 2020; not representative of all launches through 2026.</a:t>
            </a:r>
          </a:p>
          <a:p>
            <a:pPr>
              <a:spcAft>
                <a:spcPts val="1300"/>
              </a:spcAft>
              <a:defRPr sz="1900" b="0">
                <a:solidFill>
                  <a:srgbClr val="0C1B32"/>
                </a:solidFill>
              </a:defRPr>
            </a:pPr>
            <a:r>
              <a:t>• Next: run the notebooks, evaluate models, publish project files and capture screenshots.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83096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4B5C6E"/>
                </a:solidFill>
              </a:defRPr>
            </a:pPr>
            <a:r>
              <a:t>Applied Data Science Capstone | descriptive results from public educational data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55448"/>
          </a:xfrm>
          <a:prstGeom prst="rect">
            <a:avLst/>
          </a:prstGeom>
          <a:solidFill>
            <a:srgbClr val="227DC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411480"/>
            <a:ext cx="109728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900" b="1">
                <a:solidFill>
                  <a:srgbClr val="0C1B32"/>
                </a:solidFill>
              </a:defRPr>
            </a:pPr>
            <a:r>
              <a:t>Data attribution and submission status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90472"/>
            <a:ext cx="1069848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900" b="0">
                <a:solidFill>
                  <a:srgbClr val="0C1B32"/>
                </a:solidFill>
              </a:defRPr>
            </a:pPr>
            <a:r>
              <a:t>Dataset: github.com/Abhigyan-RA/SpaceX-capstone/blob/main/dataset_part_2.csv</a:t>
            </a:r>
          </a:p>
          <a:p>
            <a:pPr>
              <a:spcAft>
                <a:spcPts val="1300"/>
              </a:spcAft>
              <a:defRPr sz="1900" b="0">
                <a:solidFill>
                  <a:srgbClr val="0C1B32"/>
                </a:solidFill>
              </a:defRPr>
            </a:pPr>
            <a:r>
              <a:t>This presentation summarizes independently computed descriptive findings; original collection, map, dashboard, and model evidence remain to be added.</a:t>
            </a:r>
          </a:p>
          <a:p>
            <a:pPr>
              <a:spcAft>
                <a:spcPts val="1300"/>
              </a:spcAft>
              <a:defRPr sz="1900" b="0">
                <a:solidFill>
                  <a:srgbClr val="0C1B32"/>
                </a:solidFill>
              </a:defRPr>
            </a:pPr>
            <a:r>
              <a:t>GitHub project repository for submitter: https://github.com/AveryJan/SpaceX-Data-Science-Capstone.</a:t>
            </a:r>
          </a:p>
          <a:p>
            <a:pPr>
              <a:spcAft>
                <a:spcPts val="1300"/>
              </a:spcAft>
              <a:defRPr sz="1900" b="0">
                <a:solidFill>
                  <a:srgbClr val="0C1B32"/>
                </a:solidFill>
              </a:defRPr>
            </a:pPr>
            <a:r>
              <a:t>Assignment source: Mark python(1).pdf (15-point rubric).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483096"/>
            <a:ext cx="10881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000" b="0">
                <a:solidFill>
                  <a:srgbClr val="4B5C6E"/>
                </a:solidFill>
              </a:defRPr>
            </a:pPr>
            <a:r>
              <a:t>Applied Data Science Capstone | descriptive results from public educational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